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sldIdLst>
    <p:sldId id="256" r:id="rId5"/>
    <p:sldId id="259" r:id="rId6"/>
    <p:sldId id="257" r:id="rId7"/>
    <p:sldId id="260" r:id="rId8"/>
    <p:sldId id="265" r:id="rId9"/>
    <p:sldId id="258" r:id="rId10"/>
    <p:sldId id="262" r:id="rId11"/>
    <p:sldId id="263" r:id="rId12"/>
    <p:sldId id="264" r:id="rId13"/>
    <p:sldId id="266" r:id="rId14"/>
    <p:sldId id="268" r:id="rId15"/>
    <p:sldId id="267" r:id="rId16"/>
    <p:sldId id="270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7A98DE-6AF2-45DB-80D7-00E6D0F44FFB}" v="71" dt="2025-05-12T22:17:07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4" d="100"/>
          <a:sy n="64" d="100"/>
        </p:scale>
        <p:origin x="42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0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57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3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30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0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04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78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6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0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3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06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hyperlink" Target="https://public.tableau.com/views/TuitionAssistanceAnalysisDashboard/Dashboard1?:language=en-US&amp;:sid=&amp;:redirect=auth&amp;:display_count=n&amp;:origin=viz_shar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hyperlink" Target="https://public.tableau.com/views/SalaryDataAnalysisDashboard/Dashboard1?:language=en-US&amp;:sid=&amp;:redirect=auth&amp;:display_count=n&amp;:origin=viz_shar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1A2C81F-9BEC-75D4-A16C-762A74CABA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39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3147E-B8A8-4C67-7BA7-1D5C33D39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Workforce Development Analysis: Salaries &amp; Tuition Assistance in Montgomery County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87928-81A8-31B0-C434-ABD26FBAC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87" y="5050632"/>
            <a:ext cx="3793200" cy="1129888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/>
              <a:t>Final Report | Dajana Ramirez Andrade | DATA 205 | CRN: 33334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485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E391EC-7B7B-896A-BFDE-7BF71496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7935"/>
            <a:ext cx="7224557" cy="1316736"/>
          </a:xfrm>
        </p:spPr>
        <p:txBody>
          <a:bodyPr>
            <a:normAutofit/>
          </a:bodyPr>
          <a:lstStyle/>
          <a:p>
            <a:r>
              <a:rPr lang="en-US" dirty="0"/>
              <a:t>Goals &amp; Methods</a:t>
            </a:r>
          </a:p>
        </p:txBody>
      </p: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430C2889-232B-429D-B560-43CAE849E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A27DC-429D-F5A8-5DAA-7AA17EA1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4671"/>
            <a:ext cx="7218214" cy="396564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dirty="0"/>
              <a:t>Three Key Questions: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dirty="0"/>
              <a:t>Are there statistically significant gender pay gaps?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dirty="0"/>
              <a:t>How is tuition assistance distributed?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dirty="0"/>
              <a:t>Is there a salary-tuition relationship?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dirty="0"/>
              <a:t>Tools: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dirty="0"/>
              <a:t>R for analysis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dirty="0"/>
              <a:t>Tableau for interactive dashboards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OpenRefine</a:t>
            </a:r>
            <a:r>
              <a:rPr lang="en-US" dirty="0"/>
              <a:t> for data cleaning</a:t>
            </a:r>
          </a:p>
          <a:p>
            <a:pPr>
              <a:lnSpc>
                <a:spcPct val="100000"/>
              </a:lnSpc>
            </a:pPr>
            <a:endParaRPr lang="en-US" sz="1700" dirty="0"/>
          </a:p>
        </p:txBody>
      </p:sp>
      <p:pic>
        <p:nvPicPr>
          <p:cNvPr id="1026" name="Picture 2" descr="OpenRefine">
            <a:extLst>
              <a:ext uri="{FF2B5EF4-FFF2-40B4-BE49-F238E27FC236}">
                <a16:creationId xmlns:a16="http://schemas.microsoft.com/office/drawing/2014/main" id="{968F11E9-8DE7-3D15-A772-206AA5B0D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69448" y="1180868"/>
            <a:ext cx="3107168" cy="6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roduction to R programming language | i2tutorials">
            <a:extLst>
              <a:ext uri="{FF2B5EF4-FFF2-40B4-BE49-F238E27FC236}">
                <a16:creationId xmlns:a16="http://schemas.microsoft.com/office/drawing/2014/main" id="{C112B66B-9B64-373E-2F56-704AFCB6A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69448" y="2683451"/>
            <a:ext cx="3107168" cy="157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ableau - NPP-Asia">
            <a:extLst>
              <a:ext uri="{FF2B5EF4-FFF2-40B4-BE49-F238E27FC236}">
                <a16:creationId xmlns:a16="http://schemas.microsoft.com/office/drawing/2014/main" id="{15823D53-5D4C-B9ED-A0EE-C0441DC80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69449" y="4665158"/>
            <a:ext cx="3107168" cy="155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483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3D0AD61-C4EE-4A0B-8733-BAE046F63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4B61-FF1F-DF47-C600-D9221FFBF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803485" cy="845674"/>
          </a:xfrm>
        </p:spPr>
        <p:txBody>
          <a:bodyPr>
            <a:normAutofit/>
          </a:bodyPr>
          <a:lstStyle/>
          <a:p>
            <a:r>
              <a:rPr lang="en-US" dirty="0"/>
              <a:t>Data Overview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0627202-EFF9-43AD-A17D-9C0A58353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Bar chart outline">
            <a:extLst>
              <a:ext uri="{FF2B5EF4-FFF2-40B4-BE49-F238E27FC236}">
                <a16:creationId xmlns:a16="http://schemas.microsoft.com/office/drawing/2014/main" id="{F3EC834D-3734-9C1E-48BC-1E3342FAA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9096" y="1847084"/>
            <a:ext cx="1945696" cy="1945696"/>
          </a:xfrm>
          <a:prstGeom prst="rect">
            <a:avLst/>
          </a:prstGeom>
        </p:spPr>
      </p:pic>
      <p:pic>
        <p:nvPicPr>
          <p:cNvPr id="7" name="Graphic 6" descr="Presentation with org chart with solid fill">
            <a:extLst>
              <a:ext uri="{FF2B5EF4-FFF2-40B4-BE49-F238E27FC236}">
                <a16:creationId xmlns:a16="http://schemas.microsoft.com/office/drawing/2014/main" id="{C8AC7BCE-CFB0-7924-6894-FA442E6B26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9096" y="3983516"/>
            <a:ext cx="1945696" cy="19456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D7968-9828-31F7-9E6A-6FB09C2BC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3983" y="1527804"/>
            <a:ext cx="7092936" cy="511134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dirty="0"/>
              <a:t>Sources: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dirty="0"/>
              <a:t>Employee Salaries(2024): 10,400 rows, 8 cols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dirty="0"/>
              <a:t>Tuition Assistance (Updated Feb 2025): 4,539 rows, 7 cols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dirty="0"/>
              <a:t>Key Cleaning Steps: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dirty="0"/>
              <a:t>Standardized 25 department names in Employee Salaries  ("Police Dept" → "Police") (</a:t>
            </a:r>
            <a:r>
              <a:rPr lang="en-US" dirty="0" err="1"/>
              <a:t>OpenRefine</a:t>
            </a:r>
            <a:r>
              <a:rPr lang="en-US" dirty="0"/>
              <a:t>)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dirty="0"/>
              <a:t>Filtered for shared departments between Employee Salaries &amp; Tuition Assistance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dirty="0"/>
              <a:t>Handled missing grades (salaries) and course descriptions (excluded)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22FEF2-9343-4D52-A0EA-3EB03CB8B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210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37E8-59FD-D6AE-FA50-505BADE40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292" y="742765"/>
            <a:ext cx="10797608" cy="466969"/>
          </a:xfrm>
        </p:spPr>
        <p:txBody>
          <a:bodyPr>
            <a:normAutofit fontScale="90000"/>
          </a:bodyPr>
          <a:lstStyle/>
          <a:p>
            <a:r>
              <a:rPr lang="en-US" dirty="0"/>
              <a:t>EXPLORATORY DATA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AE441-B6F8-89A9-5031-F5DA06F11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351721"/>
            <a:ext cx="10691265" cy="5702221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2600" dirty="0"/>
              <a:t>Insight 1: Top 3 Departments by Funding</a:t>
            </a:r>
          </a:p>
          <a:p>
            <a:pPr marL="342900" indent="-342900"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sz="2600" dirty="0"/>
              <a:t>Police ($1,179,935) 2. Fire/Rescue ($716,914) 3. Health &amp; Human Services ($634,261)</a:t>
            </a:r>
            <a:br>
              <a:rPr lang="en-US" sz="2600" dirty="0"/>
            </a:br>
            <a:endParaRPr lang="en-US" sz="2600" dirty="0"/>
          </a:p>
          <a:p>
            <a:pPr marL="0" indent="0"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2600" dirty="0"/>
              <a:t>Insight 2: Most Funded Degrees</a:t>
            </a:r>
          </a:p>
          <a:p>
            <a:pPr algn="l"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sz="2600" dirty="0"/>
              <a:t>Bachelor’s – Count: 1,442 | Cost: $1,049,634</a:t>
            </a:r>
          </a:p>
          <a:p>
            <a:pPr algn="l"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sz="2600" dirty="0"/>
              <a:t>Master's – Count: 945 | Cost: $1,085,831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sz="2600" dirty="0"/>
              <a:t>Associates – Count: 680 | Cost: $293,026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None/>
            </a:pPr>
            <a:r>
              <a:rPr lang="en-US" sz="2600" dirty="0"/>
              <a:t>Insight 3: Cost Distribution By Majors</a:t>
            </a:r>
          </a:p>
          <a:p>
            <a:pPr marL="342900" indent="-342900" algn="l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AutoNum type="arabicPeriod"/>
            </a:pPr>
            <a:r>
              <a:rPr lang="en-US" sz="2600" dirty="0"/>
              <a:t>None Majors</a:t>
            </a:r>
          </a:p>
          <a:p>
            <a:pPr marL="342900" indent="-342900" algn="l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AutoNum type="arabicPeriod"/>
            </a:pPr>
            <a:r>
              <a:rPr lang="en-US" sz="2600" dirty="0"/>
              <a:t>Business/Admin./Mgmt.</a:t>
            </a:r>
          </a:p>
          <a:p>
            <a:pPr marL="342900" indent="-342900" algn="l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AutoNum type="arabicPeriod"/>
            </a:pPr>
            <a:r>
              <a:rPr lang="en-US" sz="2600" dirty="0"/>
              <a:t>Criminal Justice  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://public.tableau.com/views/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TuitionAssistanceAnalysisDashboard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/Dashboard1?:language=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-US&amp;: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=&amp;:redirect=auth&amp;: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display_count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=n&amp;:origin=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viz_share_link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None/>
            </a:pPr>
            <a:endParaRPr lang="en-US" sz="2600" dirty="0"/>
          </a:p>
          <a:p>
            <a:endParaRPr lang="en-US" dirty="0"/>
          </a:p>
        </p:txBody>
      </p:sp>
      <p:pic>
        <p:nvPicPr>
          <p:cNvPr id="8" name="Graphic 7" descr="Police female outline">
            <a:extLst>
              <a:ext uri="{FF2B5EF4-FFF2-40B4-BE49-F238E27FC236}">
                <a16:creationId xmlns:a16="http://schemas.microsoft.com/office/drawing/2014/main" id="{AF5EF152-833B-F910-9AEF-0CFFCDA8B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8939" y="4475839"/>
            <a:ext cx="1555269" cy="1555269"/>
          </a:xfrm>
          <a:prstGeom prst="rect">
            <a:avLst/>
          </a:prstGeom>
        </p:spPr>
      </p:pic>
      <p:pic>
        <p:nvPicPr>
          <p:cNvPr id="9" name="Graphic 8" descr="Medical outline">
            <a:extLst>
              <a:ext uri="{FF2B5EF4-FFF2-40B4-BE49-F238E27FC236}">
                <a16:creationId xmlns:a16="http://schemas.microsoft.com/office/drawing/2014/main" id="{F4CDB7A6-B3F0-B9C4-018E-F86CD766D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7464" y="4433422"/>
            <a:ext cx="1555269" cy="1555269"/>
          </a:xfrm>
          <a:prstGeom prst="rect">
            <a:avLst/>
          </a:prstGeom>
        </p:spPr>
      </p:pic>
      <p:pic>
        <p:nvPicPr>
          <p:cNvPr id="10" name="Graphic 9" descr="Firefighter male outline">
            <a:extLst>
              <a:ext uri="{FF2B5EF4-FFF2-40B4-BE49-F238E27FC236}">
                <a16:creationId xmlns:a16="http://schemas.microsoft.com/office/drawing/2014/main" id="{F5F3FF15-C80C-C9C9-2564-BBE2CC0AF6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10281" y="4475839"/>
            <a:ext cx="1555269" cy="155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73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A1045-87DA-7196-1885-4606EF88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772412"/>
            <a:ext cx="9926588" cy="573630"/>
          </a:xfrm>
        </p:spPr>
        <p:txBody>
          <a:bodyPr>
            <a:normAutofit fontScale="90000"/>
          </a:bodyPr>
          <a:lstStyle/>
          <a:p>
            <a:r>
              <a:rPr lang="en-US" dirty="0"/>
              <a:t>EXPLORATORY DATA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C85C2-E58D-984E-BB33-D9542BC05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431235"/>
            <a:ext cx="10691265" cy="542676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dirty="0"/>
              <a:t>Insight 1: Top 3 Paid Departments </a:t>
            </a:r>
          </a:p>
          <a:p>
            <a:pPr marL="0" indent="0"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dirty="0"/>
              <a:t>1. Legislative Oversight ($149,888) (no overtime) 2. Management &amp; Budget ($148,985) (no overtime) 3. Technology Services ($138,580) ($456 overtime)</a:t>
            </a:r>
          </a:p>
          <a:p>
            <a:pPr marL="0" indent="0"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dirty="0"/>
              <a:t>Insight 2: Highest Overtime 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dirty="0"/>
              <a:t>Correction &amp; Rehabilitation | Overtime $: 24,259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dirty="0"/>
              <a:t>Board of Elections  | Overtime $: 21,235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dirty="0"/>
              <a:t>Fire/Rescue Services | Overtime $: 21,213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None/>
            </a:pPr>
            <a:r>
              <a:rPr lang="en-US" dirty="0"/>
              <a:t>Insight 3: Salary by Gender &amp; Department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AutoNum type="arabicPeriod"/>
            </a:pPr>
            <a:r>
              <a:rPr lang="en-US" dirty="0"/>
              <a:t>Legislative Oversight  | Female Base Salary: $139,196 | Male Base Salary: $184,640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AutoNum type="arabicPeriod"/>
            </a:pPr>
            <a:r>
              <a:rPr lang="en-US" dirty="0"/>
              <a:t>County Executive | Female Base Salary: $122,962 | Male Base Salary: $170,888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AutoNum type="arabicPeriod"/>
            </a:pPr>
            <a:r>
              <a:rPr lang="en-US" dirty="0"/>
              <a:t>Police | Female Base Salary: $78,357 | Male Base Salary: $105,166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https://public.tableau.com/views/SalaryDataAnalysisDashboard/Dashboard1?:language=en-US&amp;:sid=&amp;:redirect=auth&amp;:display_count=n&amp;:origin=viz_share_link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Graphic 3" descr="Scales of justice with solid fill">
            <a:extLst>
              <a:ext uri="{FF2B5EF4-FFF2-40B4-BE49-F238E27FC236}">
                <a16:creationId xmlns:a16="http://schemas.microsoft.com/office/drawing/2014/main" id="{9999C311-9E2E-ABFF-7A7B-2ED36ABD6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4689" y="3932012"/>
            <a:ext cx="1506676" cy="1506676"/>
          </a:xfrm>
          <a:prstGeom prst="rect">
            <a:avLst/>
          </a:prstGeom>
        </p:spPr>
      </p:pic>
      <p:pic>
        <p:nvPicPr>
          <p:cNvPr id="5" name="Graphic 4" descr="Mental Health with solid fill">
            <a:extLst>
              <a:ext uri="{FF2B5EF4-FFF2-40B4-BE49-F238E27FC236}">
                <a16:creationId xmlns:a16="http://schemas.microsoft.com/office/drawing/2014/main" id="{D0117A97-B66E-A426-5AD1-532DE484A0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4689" y="5426765"/>
            <a:ext cx="1506676" cy="1506676"/>
          </a:xfrm>
          <a:prstGeom prst="rect">
            <a:avLst/>
          </a:prstGeom>
        </p:spPr>
      </p:pic>
      <p:pic>
        <p:nvPicPr>
          <p:cNvPr id="6" name="Graphic 5" descr="Handcuffs with solid fill">
            <a:extLst>
              <a:ext uri="{FF2B5EF4-FFF2-40B4-BE49-F238E27FC236}">
                <a16:creationId xmlns:a16="http://schemas.microsoft.com/office/drawing/2014/main" id="{C8E9890F-3D4D-9B88-4ED8-2AAFBE09E7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4689" y="2431298"/>
            <a:ext cx="1506676" cy="150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1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5A1FEB-E067-71B6-86E5-FBE2A66F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7601230" cy="1316736"/>
          </a:xfrm>
        </p:spPr>
        <p:txBody>
          <a:bodyPr>
            <a:normAutofit/>
          </a:bodyPr>
          <a:lstStyle/>
          <a:p>
            <a:r>
              <a:rPr lang="en-US" dirty="0"/>
              <a:t>Police Pay Gap Findings</a:t>
            </a:r>
            <a:br>
              <a:rPr lang="en-US" b="0" i="0" dirty="0">
                <a:effectLst/>
                <a:latin typeface="DeepSeek-CJK-patch"/>
              </a:rPr>
            </a:b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6096EE-B6F5-428C-8EBD-46045203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EE7A9-F019-A2B8-EBD2-F9318A552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1584583"/>
            <a:ext cx="7601230" cy="4363776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1600" dirty="0"/>
              <a:t>Key Results: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</a:pPr>
            <a:r>
              <a:rPr lang="en-US" sz="1600" dirty="0"/>
              <a:t>Male:$105,166 vs Female:$78,357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</a:pPr>
            <a:r>
              <a:rPr lang="en-US" sz="1600" dirty="0"/>
              <a:t>$26,809 mean difference (p &lt; 0.001) (t = -14.70) (34.2% higher for males)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Cohen's d = 0.79 (Large effect)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Female officers earn 74.5% of male salaries (0.745 per 1)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1600" dirty="0"/>
              <a:t>Impact: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Requires 2-3 promotions at 10% salary increase to match male pay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$536k lifetime earnings gap (20 years)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None/>
            </a:pPr>
            <a:r>
              <a:rPr lang="en-US" sz="1600" dirty="0"/>
              <a:t>Final: 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</a:pPr>
            <a:r>
              <a:rPr lang="en-US" sz="1600" dirty="0"/>
              <a:t>The difference is both statistically and practically significant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</p:txBody>
      </p:sp>
      <p:pic>
        <p:nvPicPr>
          <p:cNvPr id="5" name="Graphic 4" descr="Male outline">
            <a:extLst>
              <a:ext uri="{FF2B5EF4-FFF2-40B4-BE49-F238E27FC236}">
                <a16:creationId xmlns:a16="http://schemas.microsoft.com/office/drawing/2014/main" id="{76132407-ACFF-EF19-5558-AEAF8B48F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0471" y="1006024"/>
            <a:ext cx="1506676" cy="1506676"/>
          </a:xfrm>
          <a:prstGeom prst="rect">
            <a:avLst/>
          </a:prstGeom>
        </p:spPr>
      </p:pic>
      <p:pic>
        <p:nvPicPr>
          <p:cNvPr id="9" name="Graphic 8" descr="Gender with solid fill">
            <a:extLst>
              <a:ext uri="{FF2B5EF4-FFF2-40B4-BE49-F238E27FC236}">
                <a16:creationId xmlns:a16="http://schemas.microsoft.com/office/drawing/2014/main" id="{29CCC6E5-659E-0D48-CBE5-62BEB0F33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0471" y="2708365"/>
            <a:ext cx="1506676" cy="1506676"/>
          </a:xfrm>
          <a:prstGeom prst="rect">
            <a:avLst/>
          </a:prstGeom>
        </p:spPr>
      </p:pic>
      <p:pic>
        <p:nvPicPr>
          <p:cNvPr id="13" name="Graphic 12" descr="Female outline">
            <a:extLst>
              <a:ext uri="{FF2B5EF4-FFF2-40B4-BE49-F238E27FC236}">
                <a16:creationId xmlns:a16="http://schemas.microsoft.com/office/drawing/2014/main" id="{DE03B32B-F1B5-C3A0-AC51-89054A5DA2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70471" y="4410704"/>
            <a:ext cx="1506676" cy="1506676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B96C29-C58D-485E-91A8-02D01DD17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95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67" name="Rectangle 206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1C193-69CF-D2AF-9838-782B4EA59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Visualization of Police Gender Pay gap</a:t>
            </a:r>
          </a:p>
        </p:txBody>
      </p:sp>
      <p:cxnSp>
        <p:nvCxnSpPr>
          <p:cNvPr id="2069" name="Straight Connector 206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" name="Picture 10" descr="A graph of a salary distribution&#10;&#10;AI-generated content may be incorrect.">
            <a:extLst>
              <a:ext uri="{FF2B5EF4-FFF2-40B4-BE49-F238E27FC236}">
                <a16:creationId xmlns:a16="http://schemas.microsoft.com/office/drawing/2014/main" id="{D106A931-E278-206A-F5B2-55DDEFADAB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2935" y="1214165"/>
            <a:ext cx="7179970" cy="443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71" name="Straight Connector 2070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4">
            <a:extLst>
              <a:ext uri="{FF2B5EF4-FFF2-40B4-BE49-F238E27FC236}">
                <a16:creationId xmlns:a16="http://schemas.microsoft.com/office/drawing/2014/main" id="{5946603B-5699-0DD3-3D50-EE5BC29C1E88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8175645" y="2036576"/>
            <a:ext cx="3262874" cy="326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A8A46139-5623-650F-64FE-16FCA60B19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34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1C725-82B8-1AC3-CA0D-CC1FBB24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7601230" cy="1316736"/>
          </a:xfrm>
        </p:spPr>
        <p:txBody>
          <a:bodyPr>
            <a:normAutofit/>
          </a:bodyPr>
          <a:lstStyle/>
          <a:p>
            <a:r>
              <a:rPr lang="en-US" dirty="0"/>
              <a:t>Legislative Oversight Pay Gap Findings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6096EE-B6F5-428C-8EBD-46045203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3EAA-8D56-3030-B90C-F52094A1C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7" y="2055981"/>
            <a:ext cx="8296245" cy="446976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1700" dirty="0"/>
              <a:t>Key Results: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Male:$184,640 vs Female:$139,196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</a:pPr>
            <a:r>
              <a:rPr lang="en-US" sz="1700" dirty="0"/>
              <a:t>$45,444 mean difference (p &lt; .067) (t = - 2.29) (32.6% higher for males) 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Cohen's d = 1.37 (very large effect size)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Female officers earn 75.4% of male salaries (0.754 per 1)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1700" dirty="0"/>
              <a:t>Impact: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Requires 3 promotions at 10% salary increase to match male pay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$909k lifetime earnings gap (20 years)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None/>
            </a:pPr>
            <a:r>
              <a:rPr lang="en-US" sz="1700" dirty="0"/>
              <a:t>Next: 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</a:pPr>
            <a:r>
              <a:rPr lang="en-US" sz="1700" dirty="0"/>
              <a:t>Large point estimate but limited by a small sample.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</a:pPr>
            <a:r>
              <a:rPr lang="en-US" sz="1700" dirty="0"/>
              <a:t> I’ll run a power test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</p:txBody>
      </p:sp>
      <p:pic>
        <p:nvPicPr>
          <p:cNvPr id="5" name="Graphic 4" descr="Badge Question Mark with solid fill">
            <a:extLst>
              <a:ext uri="{FF2B5EF4-FFF2-40B4-BE49-F238E27FC236}">
                <a16:creationId xmlns:a16="http://schemas.microsoft.com/office/drawing/2014/main" id="{ABEE12AE-217D-4D45-8355-F29461236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0471" y="1006024"/>
            <a:ext cx="1506676" cy="1506676"/>
          </a:xfrm>
          <a:prstGeom prst="rect">
            <a:avLst/>
          </a:prstGeom>
        </p:spPr>
      </p:pic>
      <p:pic>
        <p:nvPicPr>
          <p:cNvPr id="7" name="Graphic 6" descr="Clipboard Mixed with solid fill">
            <a:extLst>
              <a:ext uri="{FF2B5EF4-FFF2-40B4-BE49-F238E27FC236}">
                <a16:creationId xmlns:a16="http://schemas.microsoft.com/office/drawing/2014/main" id="{485A625A-3F8E-1F35-ADAF-D664249F3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0471" y="2708365"/>
            <a:ext cx="1506676" cy="1506676"/>
          </a:xfrm>
          <a:prstGeom prst="rect">
            <a:avLst/>
          </a:prstGeom>
        </p:spPr>
      </p:pic>
      <p:pic>
        <p:nvPicPr>
          <p:cNvPr id="9" name="Graphic 8" descr="Tally with solid fill">
            <a:extLst>
              <a:ext uri="{FF2B5EF4-FFF2-40B4-BE49-F238E27FC236}">
                <a16:creationId xmlns:a16="http://schemas.microsoft.com/office/drawing/2014/main" id="{F8BF8333-9422-3324-6602-17558273BF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70471" y="4410704"/>
            <a:ext cx="1506676" cy="150667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B96C29-C58D-485E-91A8-02D01DD17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007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8E9A2-7592-2790-461B-D71552A7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r>
              <a:rPr lang="en-US" dirty="0"/>
              <a:t>Power Test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A6199-F961-B3C4-61D8-8FD156004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1675453"/>
            <a:ext cx="5958216" cy="427290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1600" dirty="0"/>
              <a:t>Key Finding:</a:t>
            </a:r>
            <a:br>
              <a:rPr lang="en-US" sz="1600" dirty="0"/>
            </a:br>
            <a:r>
              <a:rPr lang="en-US" sz="1600" dirty="0"/>
              <a:t>63% power to detect the $45k gender pay gap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1600" dirty="0"/>
              <a:t>Statistical Details: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Current sample: 10 Female vs 4 Male employees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Effect size (Cohen's d): 1.37 (Very Large)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p-value: 0.067 (approaching significance) 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1600" dirty="0"/>
              <a:t>What This Means: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Type II Error Risk (False Negative): chance of missing a real effect</a:t>
            </a:r>
          </a:p>
          <a:p>
            <a:pPr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Need +6 male records for 80% confidence</a:t>
            </a:r>
          </a:p>
          <a:p>
            <a:pPr>
              <a:lnSpc>
                <a:spcPct val="100000"/>
              </a:lnSpc>
            </a:pP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348947-6726-2E33-30AA-1BAB14D25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754" y="3260768"/>
            <a:ext cx="4624158" cy="2242716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36238B8-195F-2012-FA11-26B95BF6D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558" y="722376"/>
            <a:ext cx="4423572" cy="214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02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CE635-2F9F-93B0-8BC4-E357B58DA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Tuition &amp; Salary Relationship</a:t>
            </a:r>
          </a:p>
        </p:txBody>
      </p: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 descr="A graph showing the amount of salary in the state of the united states&#10;&#10;AI-generated content may be incorrect.">
            <a:extLst>
              <a:ext uri="{FF2B5EF4-FFF2-40B4-BE49-F238E27FC236}">
                <a16:creationId xmlns:a16="http://schemas.microsoft.com/office/drawing/2014/main" id="{5A024969-DC05-D71B-873F-8019E7487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" y="2259489"/>
            <a:ext cx="6072188" cy="374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8DE377-018A-D7DC-73D5-325A9299C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638301"/>
            <a:ext cx="4191001" cy="4350446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  <a:spcBef>
                <a:spcPts val="1029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dirty="0"/>
              <a:t>No Systemic Relationship</a:t>
            </a:r>
          </a:p>
          <a:p>
            <a:pPr marL="742950" lvl="1" indent="-28575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sz="1600" dirty="0"/>
              <a:t>Weak, non-significant correlation (r = -0.09)</a:t>
            </a:r>
          </a:p>
          <a:p>
            <a:pPr marL="742950" lvl="1" indent="-28575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sz="1600" dirty="0"/>
              <a:t>Departments at all salary levels have access to tuition funds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dirty="0"/>
              <a:t>Notable Outliers</a:t>
            </a:r>
          </a:p>
          <a:p>
            <a:pPr marL="742950" lvl="1" indent="-2857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dirty="0"/>
              <a:t>Community Engagement Cluster:</a:t>
            </a:r>
          </a:p>
          <a:p>
            <a:pPr marL="1143000" lvl="2" indent="-22860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dirty="0"/>
              <a:t>Lowest-paid ($67,893)</a:t>
            </a:r>
          </a:p>
          <a:p>
            <a:pPr marL="742950" lvl="1" indent="-2857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dirty="0"/>
              <a:t>Legislative Oversight:</a:t>
            </a:r>
          </a:p>
          <a:p>
            <a:pPr marL="1143000" lvl="2" indent="-228600">
              <a:lnSpc>
                <a:spcPct val="100000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dirty="0"/>
              <a:t>Highest-paid ($149,888)</a:t>
            </a:r>
          </a:p>
          <a:p>
            <a:pPr marL="0" indent="0">
              <a:lnSpc>
                <a:spcPct val="100000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1600" dirty="0"/>
              <a:t>Interpretation:</a:t>
            </a:r>
            <a:br>
              <a:rPr lang="en-US" sz="1600" dirty="0"/>
            </a:br>
            <a:r>
              <a:rPr lang="en-US" sz="1600" dirty="0"/>
              <a:t>The tuition program demonstrates equitable access.</a:t>
            </a:r>
          </a:p>
        </p:txBody>
      </p:sp>
      <p:cxnSp>
        <p:nvCxnSpPr>
          <p:cNvPr id="3087" name="Straight Connector 3086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>
            <a:extLst>
              <a:ext uri="{FF2B5EF4-FFF2-40B4-BE49-F238E27FC236}">
                <a16:creationId xmlns:a16="http://schemas.microsoft.com/office/drawing/2014/main" id="{33743D4D-1C18-D6CB-04D5-B2BAE15DD6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56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C07823F-9F6F-FE53-E696-370939215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r>
              <a:rPr lang="en-US" sz="3600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3EE85-4924-7570-3DF7-3035BA68C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Key Findings:</a:t>
            </a:r>
          </a:p>
          <a:p>
            <a:pPr marL="0" indent="0">
              <a:buNone/>
            </a:pPr>
            <a:r>
              <a:rPr lang="en-US" dirty="0"/>
              <a:t>1. ✔ Confirmed Police Pay Gap:</a:t>
            </a:r>
          </a:p>
          <a:p>
            <a:pPr marL="457200" lvl="1" indent="0">
              <a:buNone/>
            </a:pPr>
            <a:r>
              <a:rPr lang="en-US" dirty="0"/>
              <a:t>• $26,809 disparity (p &lt; 0.001) </a:t>
            </a:r>
          </a:p>
          <a:p>
            <a:pPr marL="457200" lvl="1" indent="0">
              <a:buNone/>
            </a:pPr>
            <a:r>
              <a:rPr lang="en-US" dirty="0"/>
              <a:t>• Females earn 75.4% of male salaries</a:t>
            </a:r>
          </a:p>
          <a:p>
            <a:pPr marL="457200" indent="-457200">
              <a:buAutoNum type="arabicPeriod" startAt="2"/>
            </a:pPr>
            <a:r>
              <a:rPr lang="en-US" dirty="0"/>
              <a:t>⚠ Legislative Oversight Concerns: </a:t>
            </a:r>
          </a:p>
          <a:p>
            <a:pPr marL="457200" lvl="1" indent="0">
              <a:buNone/>
            </a:pPr>
            <a:r>
              <a:rPr lang="en-US" dirty="0"/>
              <a:t>• $45,444 gap needing verification </a:t>
            </a:r>
            <a:br>
              <a:rPr lang="en-US" dirty="0"/>
            </a:br>
            <a:r>
              <a:rPr lang="en-US" dirty="0"/>
              <a:t>• Currently underpowered (63%) 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3. ✔ Tuition Program Success: </a:t>
            </a:r>
          </a:p>
          <a:p>
            <a:pPr marL="457200" lvl="1" indent="0">
              <a:buNone/>
            </a:pPr>
            <a:r>
              <a:rPr lang="en-US" dirty="0"/>
              <a:t>• No salary-based bias (r = -0.09)</a:t>
            </a:r>
          </a:p>
        </p:txBody>
      </p:sp>
    </p:spTree>
    <p:extLst>
      <p:ext uri="{BB962C8B-B14F-4D97-AF65-F5344CB8AC3E}">
        <p14:creationId xmlns:p14="http://schemas.microsoft.com/office/powerpoint/2010/main" val="1339777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38B2-7383-E3AA-A774-8C2682EC8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64" y="26329"/>
            <a:ext cx="10074255" cy="681540"/>
          </a:xfrm>
        </p:spPr>
        <p:txBody>
          <a:bodyPr>
            <a:normAutofit fontScale="90000"/>
          </a:bodyPr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FADCB-D686-5484-81A4-4A44D0DFD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64" y="812170"/>
            <a:ext cx="4882317" cy="532737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Immediate Priorities (0-6 Months):</a:t>
            </a:r>
          </a:p>
          <a:p>
            <a:pPr marL="457200" indent="-457200">
              <a:buAutoNum type="arabicPeriod"/>
            </a:pPr>
            <a:r>
              <a:rPr lang="en-US" altLang="en-US" dirty="0"/>
              <a:t>Police Department Salary Review </a:t>
            </a:r>
          </a:p>
          <a:p>
            <a:r>
              <a:rPr lang="en-US" altLang="en-US" dirty="0"/>
              <a:t>Comprehensive audit controlling for: </a:t>
            </a:r>
          </a:p>
          <a:p>
            <a:pPr marL="800100" lvl="1" indent="-342900">
              <a:buAutoNum type="arabicPeriod"/>
            </a:pPr>
            <a:r>
              <a:rPr lang="en-US" altLang="en-US" dirty="0"/>
              <a:t>Rank </a:t>
            </a:r>
          </a:p>
          <a:p>
            <a:pPr marL="800100" lvl="1" indent="-342900">
              <a:buAutoNum type="arabicPeriod"/>
            </a:pPr>
            <a:r>
              <a:rPr lang="en-US" altLang="en-US" dirty="0"/>
              <a:t>Years of service </a:t>
            </a:r>
          </a:p>
          <a:p>
            <a:pPr marL="800100" lvl="1" indent="-342900">
              <a:buAutoNum type="arabicPeriod"/>
            </a:pPr>
            <a:r>
              <a:rPr lang="en-US" altLang="en-US" dirty="0"/>
              <a:t> Overtime hours </a:t>
            </a:r>
          </a:p>
          <a:p>
            <a:r>
              <a:rPr lang="en-US" altLang="en-US" sz="2200" dirty="0"/>
              <a:t>Success targets: </a:t>
            </a:r>
          </a:p>
          <a:p>
            <a:pPr marL="800100" lvl="1" indent="-342900">
              <a:buAutoNum type="arabicPeriod"/>
            </a:pPr>
            <a:r>
              <a:rPr lang="en-US" altLang="en-US" dirty="0"/>
              <a:t>Reduce effect size: d = 0.79 → &lt;0.5 </a:t>
            </a:r>
          </a:p>
          <a:p>
            <a:pPr marL="800100" lvl="1" indent="-342900">
              <a:buAutoNum type="arabicPeriod"/>
            </a:pPr>
            <a:r>
              <a:rPr lang="en-US" altLang="en-US" dirty="0"/>
              <a:t>Narrow 95% CI to ± $5,000</a:t>
            </a:r>
          </a:p>
          <a:p>
            <a:pPr marL="0" indent="0">
              <a:buNone/>
            </a:pPr>
            <a:r>
              <a:rPr lang="en-US" altLang="en-US" dirty="0"/>
              <a:t>2. Legislative Oversight Data Collection </a:t>
            </a:r>
          </a:p>
          <a:p>
            <a:r>
              <a:rPr lang="en-US" altLang="en-US" dirty="0"/>
              <a:t>Required : 6+ male records </a:t>
            </a:r>
          </a:p>
          <a:p>
            <a:r>
              <a:rPr lang="en-US" altLang="en-US" dirty="0"/>
              <a:t>Goal: Achieve 80% statistical power</a:t>
            </a:r>
          </a:p>
          <a:p>
            <a:r>
              <a:rPr lang="en-US" altLang="en-US" dirty="0"/>
              <a:t>Will Validate: </a:t>
            </a:r>
          </a:p>
          <a:p>
            <a:pPr lvl="1">
              <a:buFontTx/>
              <a:buChar char="-"/>
            </a:pPr>
            <a:r>
              <a:rPr lang="en-US" altLang="en-US" dirty="0"/>
              <a:t>Current 75.4% female-to-male earnings ratio</a:t>
            </a:r>
          </a:p>
          <a:p>
            <a:pPr lvl="1">
              <a:buFontTx/>
              <a:buChar char="-"/>
            </a:pPr>
            <a:r>
              <a:rPr lang="en-US" altLang="en-US" dirty="0"/>
              <a:t> $45,444 observed gap</a:t>
            </a:r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EF5E81-25C6-BC3C-0AC0-C6FB262DFFB0}"/>
              </a:ext>
            </a:extLst>
          </p:cNvPr>
          <p:cNvSpPr txBox="1"/>
          <p:nvPr/>
        </p:nvSpPr>
        <p:spPr>
          <a:xfrm>
            <a:off x="5945020" y="1071522"/>
            <a:ext cx="6096946" cy="2705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1372"/>
              </a:spcBef>
              <a:spcAft>
                <a:spcPts val="1029"/>
              </a:spcAft>
            </a:pPr>
            <a:r>
              <a:rPr lang="en-US" dirty="0"/>
              <a:t>Long-Term Solutions (12+ Months)</a:t>
            </a:r>
          </a:p>
          <a:p>
            <a:pPr marL="457200" indent="-457200">
              <a:buAutoNum type="arabicPeriod"/>
            </a:pPr>
            <a:r>
              <a:rPr lang="en-US" altLang="en-US" dirty="0"/>
              <a:t>Automated Equity Dashboard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dirty="0"/>
              <a:t>Real-time monitoring of</a:t>
            </a:r>
          </a:p>
          <a:p>
            <a:pPr marL="1657350" lvl="3" indent="-285750">
              <a:buFontTx/>
              <a:buChar char="-"/>
            </a:pPr>
            <a:r>
              <a:rPr lang="en-US" altLang="en-US" dirty="0"/>
              <a:t>Pay gap metrics </a:t>
            </a:r>
          </a:p>
          <a:p>
            <a:pPr marL="1657350" lvl="3" indent="-285750">
              <a:buFontTx/>
              <a:buChar char="-"/>
            </a:pPr>
            <a:r>
              <a:rPr lang="en-US" altLang="en-US" dirty="0"/>
              <a:t>Tuition Participation </a:t>
            </a:r>
          </a:p>
          <a:p>
            <a:pPr marL="1657350" lvl="3" indent="-285750">
              <a:buFontTx/>
              <a:buChar char="-"/>
            </a:pPr>
            <a:r>
              <a:rPr lang="en-US" altLang="en-US" dirty="0"/>
              <a:t>Promotion Pipelines</a:t>
            </a:r>
          </a:p>
          <a:p>
            <a:r>
              <a:rPr lang="en-US" altLang="en-US" dirty="0"/>
              <a:t>2. Longitudinal Study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Track tuition recipients' career progression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Control for education/experience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4430AB6-DF43-E1E3-80E5-DDD0D3E3E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3573" y="4619076"/>
            <a:ext cx="519376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Current limitations: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 Cannot account for education/experience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Legislative sample underpowered (63%)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Single-year snapshot </a:t>
            </a:r>
          </a:p>
        </p:txBody>
      </p:sp>
    </p:spTree>
    <p:extLst>
      <p:ext uri="{BB962C8B-B14F-4D97-AF65-F5344CB8AC3E}">
        <p14:creationId xmlns:p14="http://schemas.microsoft.com/office/powerpoint/2010/main" val="3319346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95E5-2948-154D-27AE-62119C2C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CB5CD-2499-1F96-777C-A2A3036DA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 Professor Perine – Helped me navigate my dataset and guidelines in the project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29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AD854-357B-55B4-CE73-41F49126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Thank you for </a:t>
            </a:r>
            <a:r>
              <a:rPr lang="en-US"/>
              <a:t>listening!</a:t>
            </a:r>
            <a:br>
              <a:rPr lang="en-US"/>
            </a:br>
            <a:r>
              <a:rPr lang="en-US"/>
              <a:t>Questions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A2526-2C7A-07BB-3636-D6B4082FF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62501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6BBC9735EC654FA3C06B1BE456E2D8" ma:contentTypeVersion="9" ma:contentTypeDescription="Create a new document." ma:contentTypeScope="" ma:versionID="3761cb896f12d7b83d233fabab3396ef">
  <xsd:schema xmlns:xsd="http://www.w3.org/2001/XMLSchema" xmlns:xs="http://www.w3.org/2001/XMLSchema" xmlns:p="http://schemas.microsoft.com/office/2006/metadata/properties" xmlns:ns3="381204d1-5fe9-45a0-9347-cc4a9dec0aea" xmlns:ns4="028efa1c-e3ad-49f8-ad0c-2d8341bb9947" targetNamespace="http://schemas.microsoft.com/office/2006/metadata/properties" ma:root="true" ma:fieldsID="097b54fcdb70bfb4f315d460f7db437b" ns3:_="" ns4:_="">
    <xsd:import namespace="381204d1-5fe9-45a0-9347-cc4a9dec0aea"/>
    <xsd:import namespace="028efa1c-e3ad-49f8-ad0c-2d8341bb994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1204d1-5fe9-45a0-9347-cc4a9dec0aea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efa1c-e3ad-49f8-ad0c-2d8341bb994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81204d1-5fe9-45a0-9347-cc4a9dec0aea" xsi:nil="true"/>
  </documentManagement>
</p:properties>
</file>

<file path=customXml/itemProps1.xml><?xml version="1.0" encoding="utf-8"?>
<ds:datastoreItem xmlns:ds="http://schemas.openxmlformats.org/officeDocument/2006/customXml" ds:itemID="{80E02706-DEE9-4659-9A72-AD4CD6B6A3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1204d1-5fe9-45a0-9347-cc4a9dec0aea"/>
    <ds:schemaRef ds:uri="028efa1c-e3ad-49f8-ad0c-2d8341bb99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B18A2B-AAFB-45A0-B935-956AA443FE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4CEC65-A235-4765-859C-9DA64BBAB8E1}">
  <ds:schemaRefs>
    <ds:schemaRef ds:uri="http://www.w3.org/XML/1998/namespace"/>
    <ds:schemaRef ds:uri="028efa1c-e3ad-49f8-ad0c-2d8341bb9947"/>
    <ds:schemaRef ds:uri="http://purl.org/dc/elements/1.1/"/>
    <ds:schemaRef ds:uri="http://purl.org/dc/terms/"/>
    <ds:schemaRef ds:uri="381204d1-5fe9-45a0-9347-cc4a9dec0ae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967</Words>
  <Application>Microsoft Office PowerPoint</Application>
  <PresentationFormat>Widescreen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Calisto MT</vt:lpstr>
      <vt:lpstr>DeepSeek-CJK-patch</vt:lpstr>
      <vt:lpstr>Times New Roman</vt:lpstr>
      <vt:lpstr>Univers Condensed</vt:lpstr>
      <vt:lpstr>ChronicleVTI</vt:lpstr>
      <vt:lpstr>Workforce Development Analysis: Salaries &amp; Tuition Assistance in Montgomery County</vt:lpstr>
      <vt:lpstr>Goals &amp; Methods</vt:lpstr>
      <vt:lpstr>Data Overview</vt:lpstr>
      <vt:lpstr>EXPLORATORY DATA ANALYSIS </vt:lpstr>
      <vt:lpstr>EXPLORATORY DATA ANALYSIS </vt:lpstr>
      <vt:lpstr>Police Pay Gap Findings </vt:lpstr>
      <vt:lpstr>Visualization of Police Gender Pay gap</vt:lpstr>
      <vt:lpstr>Legislative Oversight Pay Gap Findings</vt:lpstr>
      <vt:lpstr>Power Test</vt:lpstr>
      <vt:lpstr>Tuition &amp; Salary Relationship</vt:lpstr>
      <vt:lpstr>Conclusion </vt:lpstr>
      <vt:lpstr>NEXT STEPS</vt:lpstr>
      <vt:lpstr>Acknowledgements</vt:lpstr>
      <vt:lpstr>Thank you for listening!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Ramirez Andrade, Dajana E</dc:creator>
  <cp:lastModifiedBy>Ramirez Andrade, Dajana E</cp:lastModifiedBy>
  <cp:revision>2</cp:revision>
  <dcterms:created xsi:type="dcterms:W3CDTF">2025-05-12T19:52:33Z</dcterms:created>
  <dcterms:modified xsi:type="dcterms:W3CDTF">2025-05-14T01:51:13Z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0x010100EC6BBC9735EC654FA3C06B1BE456E2D8</vt:lpwstr>
  </property>
</Properties>
</file>